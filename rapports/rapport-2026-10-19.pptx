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Vues</c:v>
                </c:pt>
              </c:strCache>
            </c:strRef>
          </c:tx>
          <c:spPr>
            <a:solidFill>
              <a:srgbClr val="C26E2A"/>
            </a:solidFill>
          </c:spPr>
          <c:cat>
            <c:strRef>
              <c:f>Sheet1!$A$2:$A$7</c:f>
              <c:strCache>
                <c:ptCount val="6"/>
                <c:pt idx="0">
                  <c:v>Black Forest
Labs</c:v>
                </c:pt>
                <c:pt idx="1">
                  <c:v>Kling 4.0</c:v>
                </c:pt>
                <c:pt idx="2">
                  <c:v>ChatGPT
Slides</c:v>
                </c:pt>
                <c:pt idx="3">
                  <c:v>Microsoft
Contrats</c:v>
                </c:pt>
                <c:pt idx="4">
                  <c:v>ChatGPT
Controle Chrome</c:v>
                </c:pt>
                <c:pt idx="5">
                  <c:v>Meta Muse
Spark Open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159</c:v>
                </c:pt>
                <c:pt idx="1">
                  <c:v>58</c:v>
                </c:pt>
                <c:pt idx="2">
                  <c:v>58</c:v>
                </c:pt>
                <c:pt idx="3">
                  <c:v>13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Rétention %</c:v>
                </c:pt>
              </c:strCache>
            </c:strRef>
          </c:tx>
          <c:spPr>
            <a:solidFill>
              <a:srgbClr val="3B2A1E"/>
            </a:solidFill>
          </c:spPr>
          <c:cat>
            <c:strRef>
              <c:f>Sheet1!$A$2:$A$7</c:f>
              <c:strCache>
                <c:ptCount val="6"/>
                <c:pt idx="0">
                  <c:v>Black Forest
Labs</c:v>
                </c:pt>
                <c:pt idx="1">
                  <c:v>Kling 4.0</c:v>
                </c:pt>
                <c:pt idx="2">
                  <c:v>ChatGPT
Slides</c:v>
                </c:pt>
                <c:pt idx="3">
                  <c:v>Microsoft
Contrats</c:v>
                </c:pt>
                <c:pt idx="4">
                  <c:v>ChatGPT
Controle Chrome</c:v>
                </c:pt>
                <c:pt idx="5">
                  <c:v>Meta Muse
Spark Open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27.4</c:v>
                </c:pt>
                <c:pt idx="1">
                  <c:v>35.5</c:v>
                </c:pt>
                <c:pt idx="2">
                  <c:v>50.1</c:v>
                </c:pt>
                <c:pt idx="3">
                  <c:v>30.6</c:v>
                </c:pt>
                <c:pt idx="4">
                  <c:v>38.0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Publiques</c:v>
                </c:pt>
              </c:strCache>
            </c:strRef>
          </c:tx>
          <c:spPr>
            <a:solidFill>
              <a:srgbClr val="C26E2A"/>
            </a:solidFill>
          </c:spPr>
          <c:cat>
            <c:strRef>
              <c:f>Sheet1!$A$2:$A$8</c:f>
              <c:strCache>
                <c:ptCount val="7"/>
                <c:pt idx="0">
                  <c:v>19/10</c:v>
                </c:pt>
                <c:pt idx="1">
                  <c:v>20/10</c:v>
                </c:pt>
                <c:pt idx="2">
                  <c:v>21/10</c:v>
                </c:pt>
                <c:pt idx="3">
                  <c:v>22/10</c:v>
                </c:pt>
                <c:pt idx="4">
                  <c:v>23/10</c:v>
                </c:pt>
                <c:pt idx="5">
                  <c:v>24/10</c:v>
                </c:pt>
                <c:pt idx="6">
                  <c:v>25/10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Privées (backlog)</c:v>
                </c:pt>
              </c:strCache>
            </c:strRef>
          </c:tx>
          <c:spPr>
            <a:solidFill>
              <a:srgbClr val="B0B0B0"/>
            </a:solidFill>
          </c:spPr>
          <c:cat>
            <c:strRef>
              <c:f>Sheet1!$A$2:$A$8</c:f>
              <c:strCache>
                <c:ptCount val="7"/>
                <c:pt idx="0">
                  <c:v>19/10</c:v>
                </c:pt>
                <c:pt idx="1">
                  <c:v>20/10</c:v>
                </c:pt>
                <c:pt idx="2">
                  <c:v>21/10</c:v>
                </c:pt>
                <c:pt idx="3">
                  <c:v>22/10</c:v>
                </c:pt>
                <c:pt idx="4">
                  <c:v>23/10</c:v>
                </c:pt>
                <c:pt idx="5">
                  <c:v>24/10</c:v>
                </c:pt>
                <c:pt idx="6">
                  <c:v>25/10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3B2A1E"/>
                </a:solidFill>
              </a:rPr>
              <a:t>Tech &amp; Café</a:t>
            </a:r>
          </a:p>
          <a:p>
            <a:r>
              <a:rPr sz="3000">
                <a:solidFill>
                  <a:srgbClr val="C26E2A"/>
                </a:solidFill>
              </a:rPr>
              <a:t>Rapport Analytique Hebdomadaire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B2A1E"/>
                </a:solidFill>
              </a:rPr>
              <a:t>Semaine du 19/10/2026 au 25/10/2026  —  Généré le 26/10/2026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2A1E"/>
                </a:solidFill>
              </a:rPr>
              <a:t>1. Résumé de la semaine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B2A1E"/>
                </a:solidFill>
              </a:rPr>
              <a:t>•  23 vidéos publiées (16 Shorts + 7 longues) — seulement 6 publiques (4 Shorts + 2 longues)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B2A1E"/>
                </a:solidFill>
              </a:rPr>
              <a:t>•  17 vidéos (12 Shorts + 5 longues) restent privées, en attente de bascule manuelle (Théo)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B2A1E"/>
                </a:solidFill>
              </a:rPr>
              <a:t>•  293 vues cumulées sur les 6 vidéos publiques · 405 vues calendaires Analytics (toutes vidéos)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B2A1E"/>
                </a:solidFill>
              </a:rPr>
              <a:t>•  Semaine précédente (12-18/10, consolidée) : 812 vues, 189 min regardées → -50% vues / -55% min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B2A1E"/>
                </a:solidFill>
              </a:rPr>
              <a:t>•  Abonnés : 75 (+4 cette semaine, 0 perdu)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B2A1E"/>
                </a:solidFill>
              </a:rPr>
              <a:t>•  Monétisation YPP : 75/1000 abonnés (7,5%) · 82,1h/4000h (2,05%)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B2A1E"/>
                </a:solidFill>
              </a:rPr>
              <a:t>•  Fonds Shorts : 17 771 / 10 000 000 vues sur 90 jours (0,18%)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2A1E"/>
                </a:solidFill>
              </a:rPr>
              <a:t>2. Vues par vidéo publique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2A1E"/>
                </a:solidFill>
              </a:rPr>
              <a:t>2bis. Rétention par vidéo publique (%)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2A1E"/>
                </a:solidFill>
              </a:rPr>
              <a:t>3. Backlog de publication — alerte clé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5156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3B2A1E"/>
                </a:solidFill>
              </a:rPr>
              <a:t>17 vidéos sur 23 (74%) toujours privées — la plus ancienne a ~6 jours. Politique "private" par défaut, bascule manuelle non planifiée.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B2A1E"/>
                </a:solidFill>
              </a:rPr>
              <a:t>4. Tendances &amp; Insights clés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C26E2A"/>
                </a:solidFill>
              </a:rPr>
              <a:t>Backlog manuel en forte hausse — </a:t>
            </a:r>
            <a:r>
              <a:rPr sz="1600">
                <a:solidFill>
                  <a:srgbClr val="3B2A1E"/>
                </a:solidFill>
              </a:rPr>
              <a:t>17/23 vidéos toujours privées, jusqu'à 6 jours d'âge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C26E2A"/>
                </a:solidFill>
              </a:rPr>
              <a:t>Shorts = seul moteur de distribution organique — </a:t>
            </a:r>
            <a:r>
              <a:rPr sz="1600">
                <a:solidFill>
                  <a:srgbClr val="3B2A1E"/>
                </a:solidFill>
              </a:rPr>
              <a:t>trafic SHORTS dominant (57-93%) sur 3/4 Shorts publics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C26E2A"/>
                </a:solidFill>
              </a:rPr>
              <a:t>Rétention hétérogène (27%-50%) sans lien avec le volume — </a:t>
            </a:r>
            <a:r>
              <a:rPr sz="1600">
                <a:solidFill>
                  <a:srgbClr val="3B2A1E"/>
                </a:solidFill>
              </a:rPr>
              <a:t>le plus vu n'est pas le mieux retenu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C26E2A"/>
                </a:solidFill>
              </a:rPr>
              <a:t>Baisse -50% vues vs semaine précédente — </a:t>
            </a:r>
            <a:r>
              <a:rPr sz="1600">
                <a:solidFill>
                  <a:srgbClr val="3B2A1E"/>
                </a:solidFill>
              </a:rPr>
              <a:t>très majoritairement mécanique (manque de publications), pas éditoriale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B2A1E"/>
                </a:solidFill>
              </a:rPr>
              <a:t>5. Recommandations — semaine suivante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B2A1E"/>
                </a:solidFill>
              </a:rPr>
              <a:t>•  Évacuer en priorité le backlog de 17 vidéos en attente de bascule publique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B2A1E"/>
                </a:solidFill>
              </a:rPr>
              <a:t>•  Maintenir la priorité Shorts tant que le format long n'a pas de canal de distribution propre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B2A1E"/>
                </a:solidFill>
              </a:rPr>
              <a:t>•  Étudier l'écart de rétention Black Forest Labs (27%) vs ChatGPT Slides (50%)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B2A1E"/>
                </a:solidFill>
              </a:rPr>
              <a:t>•  Redemander un rapport complet une fois le backlog publié (mesure actuelle incomplète)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B2A1E"/>
                </a:solidFill>
              </a:rPr>
              <a:t>•  Prioriser rétention + conversion abonnés plutôt que le seul volume (75/1000 abonnés, +4/semaine)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Tech &amp; Café ☕</a:t>
            </a:r>
          </a:p>
          <a:p>
            <a:pPr algn="ctr"/>
            <a:r>
              <a:rPr sz="1400">
                <a:solidFill>
                  <a:srgbClr val="DDDDDD"/>
                </a:solidFill>
              </a:rPr>
              <a:t>Rapport généré via YouTube Data API v3 + YouTube Analytics API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