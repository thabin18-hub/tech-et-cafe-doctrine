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64653"/>
                </a:solidFill>
              </a:defRPr>
            </a:pPr>
            <a:r>
              <a:t>Rapport Analytique Hebdomadaire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9184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Tech &amp; Café — Semaine du 24 au 30 août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55555"/>
                </a:solidFill>
              </a:defRPr>
            </a:pPr>
            <a:r>
              <a:t>Directeur de Production IA — Analyse YouTube Data API +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Résumé de la semaine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17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Vidéos publiées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79" y="173736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1077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Vues totales (semaine)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19" y="173736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17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Abonnés (total)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1.7%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Progression 1000 abonnés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97679" y="36576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22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Likes cumulés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9" y="3657600"/>
            <a:ext cx="34747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2E86AB"/>
                </a:solidFill>
              </a:defRPr>
            </a:pPr>
            <a:r>
              <a:t>0</a:t>
            </a:r>
          </a:p>
          <a:p>
            <a:pPr>
              <a:defRPr sz="1600">
                <a:solidFill>
                  <a:srgbClr val="555555"/>
                </a:solidFill>
              </a:defRPr>
            </a:pPr>
            <a:r>
              <a:t>Commentaires cumulés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Vues par vidéo</a:t>
            </a:r>
          </a:p>
        </p:txBody>
      </p:sp>
      <p:pic>
        <p:nvPicPr>
          <p:cNvPr id="3" name="Picture 2" descr="vues_par_vid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280160"/>
            <a:ext cx="7543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Meilleures &amp; moins bonnes performances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6AB"/>
                </a:solidFill>
              </a:defRPr>
            </a:pPr>
            <a:r>
              <a:t>Top 5 vues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222 vues — Samsung Met Une IA à 799€ Qui Coupe Le Bruit En Direct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128 vues — Sam Altman (OpenAI) Avoue S'Être Trompé Sur L'IA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111 vues — Apple Lance Une Siri IA 8x Plus Puissante — Mais Pas En 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519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101 vues — GPT-Live : ChatGPT Ne T'interrompt Presque Plus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93 vues — La Fin des Bugs Inventés par Ton IA de Code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76F51"/>
                </a:solidFill>
              </a:defRPr>
            </a:pPr>
            <a:r>
              <a:t>5 vidéos les moins vues (publiques)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92024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4 vues — GLM-5.3 : L'IA Qui A Trouvé 1097 Failles Critiques Dans Linux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9748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4 vues — Nvidia Rachète Hugging Face Pour 13 Milliards : Ce Qui Change Pour Toi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7 vues — Cette IA Meta coûterait 10x ChatGPT Plus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425196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8 vues — OpenAI Jalapeño : La Puce IA Qui Bat Nvidia Blackwell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02920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/>
            </a:pPr>
            <a:r>
              <a:t>19 vues — L'IA De Meta Commande Pour Toi Sur WhatsApp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Rétention : Shorts vs format long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4114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14 Shorts (≤3min) publiés cette semaine</a:t>
            </a:r>
          </a:p>
          <a:p>
            <a:pPr>
              <a:defRPr sz="2200" b="1">
                <a:solidFill>
                  <a:srgbClr val="2E86AB"/>
                </a:solidFill>
              </a:defRPr>
            </a:pPr>
            <a:r>
              <a:t>Rétention moyenne : 45.1%</a:t>
            </a:r>
          </a:p>
          <a:p>
            <a:pPr>
              <a:defRPr sz="1600"/>
            </a:pPr>
            <a:r>
              <a:t>3 vidéos longues publiées cette semaine</a:t>
            </a:r>
          </a:p>
          <a:p>
            <a:pPr>
              <a:defRPr sz="2200" b="1">
                <a:solidFill>
                  <a:srgbClr val="E76F51"/>
                </a:solidFill>
              </a:defRPr>
            </a:pPr>
            <a:r>
              <a:t>Rétention moyenne : 1.8%</a:t>
            </a:r>
          </a:p>
        </p:txBody>
      </p:sp>
      <p:pic>
        <p:nvPicPr>
          <p:cNvPr id="4" name="Picture 3" descr="shorts_vs_lo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371600"/>
            <a:ext cx="6675120" cy="2966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Sources de trafic</a:t>
            </a:r>
          </a:p>
        </p:txBody>
      </p:sp>
      <p:pic>
        <p:nvPicPr>
          <p:cNvPr id="3" name="Picture 2" descr="sources_traf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280160"/>
            <a:ext cx="603504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Comparaison semaine sur semaine</a:t>
            </a:r>
          </a:p>
        </p:txBody>
      </p:sp>
      <p:pic>
        <p:nvPicPr>
          <p:cNvPr id="3" name="Picture 2" descr="comparaison_semai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1280160"/>
            <a:ext cx="89408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Tendances &amp; insights clés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/>
            </a:pPr>
            <a:r>
              <a:t>• Format long : 16 vues cumulées sur 3 vidéos (rétention 1.8%) — diagnostic confirmé : problème de découverte (100% trafic YT_SEARCH/SUBSCRIBER, 0% reprise algorithmique), pas d'horaire de publication.</a:t>
            </a:r>
          </a:p>
          <a:p>
            <a:pPr>
              <a:spcAft>
                <a:spcPts val="1400"/>
              </a:spcAft>
              <a:defRPr sz="1500"/>
            </a:pPr>
            <a:r>
              <a:t>• Correctif du 26/08 (trigger vidéo longue) écarte formellement l'hypothèse horaire — mais des fichiers de suivi quotidien postérieurs à cette date la citent encore : à vérifier.</a:t>
            </a:r>
          </a:p>
          <a:p>
            <a:pPr>
              <a:spcAft>
                <a:spcPts val="1400"/>
              </a:spcAft>
              <a:defRPr sz="1500"/>
            </a:pPr>
            <a:r>
              <a:t>• Les titres avec un chiffre/prix précis + actualité fraîche surperforment (Samsung 799€, Sam Altman, Apple Siri 8x).</a:t>
            </a:r>
          </a:p>
          <a:p>
            <a:pPr>
              <a:spcAft>
                <a:spcPts val="1400"/>
              </a:spcAft>
              <a:defRPr sz="1500"/>
            </a:pPr>
            <a:r>
              <a:t>• Incohérence de chiffre détectée entre un Short et une vidéo longue sur le même sujet le même jour (12,9 vs 13 milliards, rachat Nvidia/Hugging Face).</a:t>
            </a:r>
          </a:p>
          <a:p>
            <a:pPr>
              <a:spcAft>
                <a:spcPts val="1400"/>
              </a:spcAft>
              <a:defRPr sz="1500"/>
            </a:pPr>
            <a:r>
              <a:t>• Engagement communautaire toujours à 0 commentaire sur 17 vidéos.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64653"/>
                </a:solidFill>
              </a:defRPr>
            </a:pPr>
            <a:r>
              <a:t>Recommandations — semaine prochaine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881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800" b="1">
                <a:solidFill>
                  <a:srgbClr val="2E86AB"/>
                </a:solidFill>
              </a:defRPr>
            </a:pPr>
            <a:r>
              <a:t>1</a:t>
            </a:r>
            <a:r>
              <a:rPr sz="1600" b="0">
                <a:solidFill>
                  <a:srgbClr val="000000"/>
                </a:solidFill>
              </a:rPr>
              <a:t>  Ne pas rouvrir la piste horaire pour le format long : optimiser plutôt les titres pour la recherche YouTube et ajouter un CTA vers les Shorts en fin de vidéo longue.</a:t>
            </a:r>
          </a:p>
          <a:p>
            <a:pPr>
              <a:spcAft>
                <a:spcPts val="1600"/>
              </a:spcAft>
              <a:defRPr sz="1800" b="1">
                <a:solidFill>
                  <a:srgbClr val="2E86AB"/>
                </a:solidFill>
              </a:defRPr>
            </a:pPr>
            <a:r>
              <a:t>2</a:t>
            </a:r>
            <a:r>
              <a:rPr sz="1600" b="0">
                <a:solidFill>
                  <a:srgbClr val="000000"/>
                </a:solidFill>
              </a:rPr>
              <a:t>  Reproduire la formule des meilleurs Shorts : chiffre/prix précis, actualité fraîche, hook direct.</a:t>
            </a:r>
          </a:p>
          <a:p>
            <a:pPr>
              <a:spcAft>
                <a:spcPts val="1600"/>
              </a:spcAft>
              <a:defRPr sz="1800" b="1">
                <a:solidFill>
                  <a:srgbClr val="2E86AB"/>
                </a:solidFill>
              </a:defRPr>
            </a:pPr>
            <a:r>
              <a:t>3</a:t>
            </a:r>
            <a:r>
              <a:rPr sz="1600" b="0">
                <a:solidFill>
                  <a:srgbClr val="000000"/>
                </a:solidFill>
              </a:rPr>
              <a:t>  Éviter les doublons Short/vidéo longue sur le même sujet le même jour, ou harmoniser les chiffres cités.</a:t>
            </a:r>
          </a:p>
          <a:p>
            <a:pPr>
              <a:spcAft>
                <a:spcPts val="1600"/>
              </a:spcAft>
              <a:defRPr sz="1800" b="1">
                <a:solidFill>
                  <a:srgbClr val="2E86AB"/>
                </a:solidFill>
              </a:defRPr>
            </a:pPr>
            <a:r>
              <a:t>4</a:t>
            </a:r>
            <a:r>
              <a:rPr sz="1600" b="0">
                <a:solidFill>
                  <a:srgbClr val="000000"/>
                </a:solidFill>
              </a:rPr>
              <a:t>  Ajouter une question ouverte en hook/CTA pour stimuler les commentaires (0 cette semaine, comme la semaine dernière).</a:t>
            </a:r>
          </a:p>
          <a:p>
            <a:pPr>
              <a:spcAft>
                <a:spcPts val="1600"/>
              </a:spcAft>
              <a:defRPr sz="1800" b="1">
                <a:solidFill>
                  <a:srgbClr val="2E86AB"/>
                </a:solidFill>
              </a:defRPr>
            </a:pPr>
            <a:r>
              <a:t>5</a:t>
            </a:r>
            <a:r>
              <a:rPr sz="1600" b="0">
                <a:solidFill>
                  <a:srgbClr val="000000"/>
                </a:solidFill>
              </a:rPr>
              <a:t>  Vérifier que la routine de suivi quotidien a bien intégré le correctif du 26/08 sur le diagnostic découverte vs horaire.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Tech &amp; Café — Rapport hebdomadaire — Semaine du 24 au 30 août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55555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