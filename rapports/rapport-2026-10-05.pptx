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Tech &amp; Café</a:t>
            </a:r>
          </a:p>
          <a:p>
            <a:pPr algn="ctr">
              <a:defRPr sz="2800"/>
            </a:pPr>
            <a:r>
              <a:t>Rapport Analytique Hebdomadaire</a:t>
            </a:r>
          </a:p>
          <a:p>
            <a:pPr algn="ctr">
              <a:defRPr sz="2000">
                <a:solidFill>
                  <a:srgbClr val="595959"/>
                </a:solidFill>
              </a:defRPr>
            </a:pPr>
            <a:r>
              <a:t>Semaine du 05/10 au 11/10/2026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Résumé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20 vidéos publiées (14 Shorts + 6 longues)</a:t>
            </a:r>
          </a:p>
          <a:p>
            <a:pPr>
              <a:spcAft>
                <a:spcPts val="1400"/>
              </a:spcAft>
              <a:defRPr sz="2200"/>
            </a:pPr>
            <a:r>
              <a:t>• 449 vues cumulées (temps réel) · 519 vues (Analytics calendaire)</a:t>
            </a:r>
          </a:p>
          <a:p>
            <a:pPr>
              <a:spcAft>
                <a:spcPts val="1400"/>
              </a:spcAft>
              <a:defRPr sz="2200"/>
            </a:pPr>
            <a:r>
              <a:t>• 4 likes · 0 commentaire(s) · 206 min regardées</a:t>
            </a:r>
          </a:p>
          <a:p>
            <a:pPr>
              <a:spcAft>
                <a:spcPts val="1400"/>
              </a:spcAft>
              <a:defRPr sz="2200"/>
            </a:pPr>
            <a:r>
              <a:t>• 67 abonnés au total (+1/-0 cette semaine)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Vues par vidéo</a:t>
            </a:r>
          </a:p>
        </p:txBody>
      </p:sp>
      <p:pic>
        <p:nvPicPr>
          <p:cNvPr id="3" name="Picture 2" descr="chart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4933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Rétention moyenne</a:t>
            </a:r>
          </a:p>
        </p:txBody>
      </p:sp>
      <p:pic>
        <p:nvPicPr>
          <p:cNvPr id="3" name="Picture 2" descr="cha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493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Progression monétisation</a:t>
            </a:r>
          </a:p>
        </p:txBody>
      </p:sp>
      <p:pic>
        <p:nvPicPr>
          <p:cNvPr id="3" name="Picture 2" descr="chart_mone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698480" cy="3423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Tendances &amp; Insights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▸ Format long toujours hors créneau (05h-09h UTC) : 0-6 vues sur les 6 longues, blocage inchangé.</a:t>
            </a:r>
          </a:p>
          <a:p>
            <a:pPr>
              <a:spcAft>
                <a:spcPts val="1200"/>
              </a:spcAft>
              <a:defRPr sz="2000"/>
            </a:pPr>
            <a:r>
              <a:t>▸ Les Shorts restent le seul moteur de distribution (60-95% trafic fil Shorts).</a:t>
            </a:r>
          </a:p>
          <a:p>
            <a:pPr>
              <a:spcAft>
                <a:spcPts val="1200"/>
              </a:spcAft>
              <a:defRPr sz="2000"/>
            </a:pPr>
            <a:r>
              <a:t>▸ Rétention hétérogène : 30% à 66% selon la vidéo.</a:t>
            </a:r>
          </a:p>
          <a:p>
            <a:pPr>
              <a:spcAft>
                <a:spcPts val="1200"/>
              </a:spcAft>
              <a:defRPr sz="2000"/>
            </a:pPr>
            <a:r>
              <a:t>▸ 0 abonné attribué par vidéo cette semaine malgré +1 net au niveau chaîne.</a:t>
            </a:r>
          </a:p>
          <a:p>
            <a:pPr>
              <a:spcAft>
                <a:spcPts val="1200"/>
              </a:spcAft>
              <a:defRPr sz="2000"/>
            </a:pPr>
            <a:r>
              <a:t>▸ 0 commentaire sur les 20 vidéos — aucun verbatim exploitable.</a:t>
            </a:r>
          </a:p>
          <a:p>
            <a:pPr>
              <a:spcAft>
                <a:spcPts val="1200"/>
              </a:spcAft>
              <a:defRPr sz="2000"/>
            </a:pPr>
            <a:r>
              <a:t>▸ Gabarit 'marque + chiffre/échéance' toujours en tête du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Recommandations — Semaine du 13/10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1. Escalader (6e fois) le diagnostic de l'écart horaire du format long.</a:t>
            </a:r>
          </a:p>
          <a:p>
            <a:pPr>
              <a:spcAft>
                <a:spcPts val="1400"/>
              </a:spcAft>
              <a:defRPr sz="2000"/>
            </a:pPr>
            <a:r>
              <a:t>2. Continuer le gabarit 'marque + chiffre/échéance vérifiable' sur les Shorts.</a:t>
            </a:r>
          </a:p>
          <a:p>
            <a:pPr>
              <a:spcAft>
                <a:spcPts val="1400"/>
              </a:spcAft>
              <a:defRPr sz="2000"/>
            </a:pPr>
            <a:r>
              <a:t>3. Ajouter un CTA d'abonnement lié à la promesse, placé dans le dernier tiers.</a:t>
            </a:r>
          </a:p>
          <a:p>
            <a:pPr>
              <a:spcAft>
                <a:spcPts val="1400"/>
              </a:spcAft>
              <a:defRPr sz="2000"/>
            </a:pPr>
            <a:r>
              <a:t>4. Vérifier systématiquement anti-doublon jour J et J-1 avant de figer un sujet.</a:t>
            </a:r>
          </a:p>
          <a:p>
            <a:pPr>
              <a:spcAft>
                <a:spcPts val="1400"/>
              </a:spcAft>
              <a:defRPr sz="2000"/>
            </a:pPr>
            <a:r>
              <a:t>5. Resserrer la transition 3-11s après le hook sur les Shorts à rétention moyenne.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